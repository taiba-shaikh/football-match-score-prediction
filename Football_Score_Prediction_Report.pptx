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F4534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0"/>
            <a:ext cx="868680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0"/>
            <a:ext cx="868680" cy="6858000"/>
          </a:xfrm>
          <a:prstGeom prst="rect">
            <a:avLst/>
          </a:prstGeom>
          <a:solidFill>
            <a:srgbClr val="0F4534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0"/>
            <a:ext cx="868680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0"/>
            <a:ext cx="868680" cy="6858000"/>
          </a:xfrm>
          <a:prstGeom prst="rect">
            <a:avLst/>
          </a:prstGeom>
          <a:solidFill>
            <a:srgbClr val="0F4534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0"/>
            <a:ext cx="868680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0"/>
            <a:ext cx="868680" cy="6858000"/>
          </a:xfrm>
          <a:prstGeom prst="rect">
            <a:avLst/>
          </a:prstGeom>
          <a:solidFill>
            <a:srgbClr val="0F4534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5029200"/>
            <a:ext cx="2194560" cy="219456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CASE STUDY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9659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Football Match Scores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In-Match Performance Metrics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Multiple Linear Regression approach to estimating final scores from shots, saves,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and attacking metrics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502920" cy="54864"/>
          </a:xfrm>
          <a:prstGeom prst="rect">
            <a:avLst/>
          </a:prstGeom>
          <a:solidFill>
            <a:srgbClr val="F2C9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in-match statistics predict the final score?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target, goal attempts, possession and goalkeeper saves are recorded continuously throughout a match. This project tests whether these performance metrics can be used to estimate the final score and the likely winner, using a Multiple Linear Regression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6492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49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69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holds only full-time statistics, not time-stamped, in-play data. The model is therefore trained as a proof of concept — the same approach could extend to live/half-time prediction if timestamped stats were available.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69164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B5E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67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accuracy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2807208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B5E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Attempts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2826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volume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3922776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B5E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40142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Possession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398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 control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5038344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B5E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5129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 Saves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5513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pressure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95,384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match rows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874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874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cleaning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used in modelling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Attacking: Goal Attempts, Shots on Target (Home &amp; Away)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70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Possession: Ball Possession % (Home &amp; Away)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70001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Defensive: Goalkeeper Saves (Home &amp; Away)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02936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12978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(dropped later): Free Kicks, Fouls, Offsides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32704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559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Home Score, Away Score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84832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7860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95,384 → 95,340 rows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2697480" y="2944368"/>
            <a:ext cx="146304" cy="182880"/>
          </a:xfrm>
          <a:prstGeom prst="triangle">
            <a:avLst/>
          </a:prstGeom>
          <a:solidFill>
            <a:srgbClr val="2E8B57"/>
          </a:solidFill>
          <a:ln/>
        </p:spPr>
      </p:sp>
      <p:sp>
        <p:nvSpPr>
          <p:cNvPr id="10" name="Shape 8"/>
          <p:cNvSpPr/>
          <p:nvPr/>
        </p:nvSpPr>
        <p:spPr>
          <a:xfrm>
            <a:off x="2798064" y="192024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35224" y="2084832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35224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257860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missing values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320040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all N/A rows loses 95% of data — rejected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946904" y="2944368"/>
            <a:ext cx="146304" cy="182880"/>
          </a:xfrm>
          <a:prstGeom prst="triangle">
            <a:avLst/>
          </a:prstGeom>
          <a:solidFill>
            <a:srgbClr val="2E8B57"/>
          </a:solidFill>
          <a:ln/>
        </p:spPr>
      </p:sp>
      <p:sp>
        <p:nvSpPr>
          <p:cNvPr id="16" name="Shape 14"/>
          <p:cNvSpPr/>
          <p:nvPr/>
        </p:nvSpPr>
        <p:spPr>
          <a:xfrm>
            <a:off x="5047488" y="192024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4648" y="2084832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8464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84648" y="257860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sparse columns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320040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high-null pass/attack columns removed instead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96328" y="2944368"/>
            <a:ext cx="146304" cy="182880"/>
          </a:xfrm>
          <a:prstGeom prst="triangle">
            <a:avLst/>
          </a:prstGeom>
          <a:solidFill>
            <a:srgbClr val="2E8B57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6912" y="192024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072" y="2084832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34072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34072" y="257860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320040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home_score / away_score coerced to numeric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45752" y="2944368"/>
            <a:ext cx="146304" cy="182880"/>
          </a:xfrm>
          <a:prstGeom prst="triangle">
            <a:avLst/>
          </a:prstGeom>
          <a:solidFill>
            <a:srgbClr val="2E8B57"/>
          </a:solidFill>
          <a:ln/>
        </p:spPr>
      </p:sp>
      <p:sp>
        <p:nvSpPr>
          <p:cNvPr id="28" name="Shape 26"/>
          <p:cNvSpPr/>
          <p:nvPr/>
        </p:nvSpPr>
        <p:spPr>
          <a:xfrm>
            <a:off x="9546336" y="1920240"/>
            <a:ext cx="2139696" cy="2377440"/>
          </a:xfrm>
          <a:prstGeom prst="roundRect">
            <a:avLst>
              <a:gd name="adj" fmla="val 3419"/>
            </a:avLst>
          </a:prstGeom>
          <a:solidFill>
            <a:srgbClr val="1B5E3C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83496" y="2084832"/>
            <a:ext cx="365760" cy="36576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83496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83496" y="257860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set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83496" y="320040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95,340 rows × 25 columns retained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home advantage or possession decide matches?</a:t>
            </a:r>
            <a:endParaRPr lang="en-US" sz="3000" dirty="0"/>
          </a:p>
        </p:txBody>
      </p:sp>
      <p:pic>
        <p:nvPicPr>
          <p:cNvPr id="4" name="Image 0" descr="/home/claude/nb_images/cell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160520" cy="2980944"/>
          </a:xfrm>
          <a:prstGeom prst="rect">
            <a:avLst/>
          </a:prstGeom>
        </p:spPr>
      </p:pic>
      <p:pic>
        <p:nvPicPr>
          <p:cNvPr id="5" name="Image 1" descr="/home/claude/nb_images/cell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91640"/>
            <a:ext cx="3383280" cy="2606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58200" y="1691640"/>
            <a:ext cx="3154680" cy="4480560"/>
          </a:xfrm>
          <a:prstGeom prst="rect">
            <a:avLst/>
          </a:prstGeom>
          <a:solidFill>
            <a:srgbClr val="1B5E3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240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wins (11.7k) clearly outnumber away wins (8.4k) and draws (6.6k) — home advantage is real.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average only ~1-2 points more possession than losers — the gap is too small to explain the outcome gap alone.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4709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possession is, at best, a minor predictive factor.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Attacking output separates winners from losers</a:t>
            </a:r>
            <a:endParaRPr lang="en-US" sz="3000" dirty="0"/>
          </a:p>
        </p:txBody>
      </p:sp>
      <p:pic>
        <p:nvPicPr>
          <p:cNvPr id="4" name="Image 0" descr="/home/claude/nb_images/cell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566160" cy="3063240"/>
          </a:xfrm>
          <a:prstGeom prst="rect">
            <a:avLst/>
          </a:prstGeom>
        </p:spPr>
      </p:pic>
      <p:pic>
        <p:nvPicPr>
          <p:cNvPr id="5" name="Image 1" descr="/home/claude/nb_images/cell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3566160" cy="3008376"/>
          </a:xfrm>
          <a:prstGeom prst="rect">
            <a:avLst/>
          </a:prstGeom>
        </p:spPr>
      </p:pic>
      <p:pic>
        <p:nvPicPr>
          <p:cNvPr id="6" name="Image 2" descr="/home/claude/nb_images/cell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92040"/>
            <a:ext cx="7360920" cy="129844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138160" y="1691640"/>
            <a:ext cx="3474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366760" y="1920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teams average more shots on target AND more goal attempts than losing teams — a larger gap than possession showed.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8366760" y="3520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shots on target also tracks with more goals scored, for both home and away teams (bottom chart).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8366760" y="5029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intent is a stronger signal than possession.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and disciplinary metrics add less signal</a:t>
            </a:r>
            <a:endParaRPr lang="en-US" sz="3000" dirty="0"/>
          </a:p>
        </p:txBody>
      </p:sp>
      <p:pic>
        <p:nvPicPr>
          <p:cNvPr id="4" name="Image 0" descr="/home/claude/nb_images/cell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12064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783080"/>
            <a:ext cx="5623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874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Offsides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2219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for winners — greater attacking intent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2990088"/>
            <a:ext cx="5623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63640" y="30815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 Saves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34290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for losers — reflects more pressure faced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4197096"/>
            <a:ext cx="5623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428853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Kicks &amp; Fouls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4636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difference between winners and losers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544982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attacking metrics (shots, attempts) outperform defensive/disciplinary metrics as predictors.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multicollinearity with VIF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candidate predictors move together (e.g. shots on/off target, fouls and free kicks). A Variance Inflation Factor (VIF) check on the full feature set showed several features above 20-60 — far beyond the common threshold of 5-10 — confirming heavy overlap.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VIF (before)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639312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393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Free_Kicks_Home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6393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Fouls_Home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4023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407408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44074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Goal_Attempts_Home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4074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VIF (after)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639312"/>
            <a:ext cx="2651760" cy="384048"/>
          </a:xfrm>
          <a:prstGeom prst="rect">
            <a:avLst/>
          </a:prstGeom>
          <a:solidFill>
            <a:srgbClr val="EAF3EC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36393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Shots_on_Goal_Home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6393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4023360"/>
            <a:ext cx="2651760" cy="384048"/>
          </a:xfrm>
          <a:prstGeom prst="rect">
            <a:avLst/>
          </a:prstGeom>
          <a:solidFill>
            <a:srgbClr val="EAF3EC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56432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Goal_Attempts_Home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023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4407408"/>
            <a:ext cx="2651760" cy="384048"/>
          </a:xfrm>
          <a:prstGeom prst="rect">
            <a:avLst/>
          </a:prstGeom>
          <a:solidFill>
            <a:srgbClr val="EAF3EC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56432" y="44074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Goalkeeper_Saves_Home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44074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2103120"/>
            <a:ext cx="4937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candidate features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75120" y="3035808"/>
            <a:ext cx="4937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30358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VIF for each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6941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3968496"/>
            <a:ext cx="4937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396849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redundant / high-VIF fields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(passes, fouls, offsides, shots off target)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6268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75120" y="4901184"/>
            <a:ext cx="4937760" cy="658368"/>
          </a:xfrm>
          <a:prstGeom prst="roundRect">
            <a:avLst>
              <a:gd name="adj" fmla="val 9722"/>
            </a:avLst>
          </a:prstGeom>
          <a:solidFill>
            <a:srgbClr val="1B5E3C"/>
          </a:solidFill>
          <a:ln w="12700">
            <a:solidFill>
              <a:srgbClr val="1B5E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49011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8-feature reduced set → modelling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modelling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76400" cy="2011680"/>
          </a:xfrm>
          <a:prstGeom prst="roundRect">
            <a:avLst>
              <a:gd name="adj" fmla="val 4364"/>
            </a:avLst>
          </a:prstGeom>
          <a:solidFill>
            <a:srgbClr val="0F453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34640"/>
            <a:ext cx="145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566160"/>
            <a:ext cx="145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95,384 rows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columns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25040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6208" y="2377440"/>
            <a:ext cx="1676400" cy="2011680"/>
          </a:xfrm>
          <a:prstGeom prst="roundRect">
            <a:avLst>
              <a:gd name="adj" fmla="val 4364"/>
            </a:avLst>
          </a:prstGeom>
          <a:solidFill>
            <a:srgbClr val="0F453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35936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35936" y="2834640"/>
            <a:ext cx="145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Type-Fix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535936" y="3566160"/>
            <a:ext cx="145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duplicates/nulls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numeric types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02608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03776" y="2377440"/>
            <a:ext cx="1676400" cy="2011680"/>
          </a:xfrm>
          <a:prstGeom prst="roundRect">
            <a:avLst>
              <a:gd name="adj" fmla="val 4364"/>
            </a:avLst>
          </a:prstGeom>
          <a:solidFill>
            <a:srgbClr val="0F453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13504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13504" y="2834640"/>
            <a:ext cx="145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13504" y="3566160"/>
            <a:ext cx="145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check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low-collinearity features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80176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1344" y="2377440"/>
            <a:ext cx="1676400" cy="2011680"/>
          </a:xfrm>
          <a:prstGeom prst="roundRect">
            <a:avLst>
              <a:gd name="adj" fmla="val 4364"/>
            </a:avLst>
          </a:prstGeom>
          <a:solidFill>
            <a:srgbClr val="0F453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2834640"/>
            <a:ext cx="145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3566160"/>
            <a:ext cx="145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train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test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857744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58912" y="2377440"/>
            <a:ext cx="1676400" cy="2011680"/>
          </a:xfrm>
          <a:prstGeom prst="roundRect">
            <a:avLst>
              <a:gd name="adj" fmla="val 4364"/>
            </a:avLst>
          </a:prstGeom>
          <a:solidFill>
            <a:srgbClr val="0F453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68640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68640" y="2834640"/>
            <a:ext cx="145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68640" y="3566160"/>
            <a:ext cx="145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home_score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away_score jointly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735312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36480" y="2377440"/>
            <a:ext cx="1676400" cy="2011680"/>
          </a:xfrm>
          <a:prstGeom prst="roundRect">
            <a:avLst>
              <a:gd name="adj" fmla="val 4364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46208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46208" y="2834640"/>
            <a:ext cx="145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046208" y="3566160"/>
            <a:ext cx="145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D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RMSE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D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held-out matches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predict both home_score and away_score in a single regression model.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performance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 + Goalkeeper Saves (Home &amp; Away)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B5E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0.989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B5E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21488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108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B5E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1488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0.130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108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Score-specific accuracy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Score R²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4389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983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Score R²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4983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9320" y="4023360"/>
            <a:ext cx="5623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41879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553712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R² of 0.989 means the model explains ~99% of the variance in final scores from shots-on-target and saves alone. The average prediction is off by just 0.03 goals (MAE) — effectively near-exact for full-time statistics used as inputs.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feature combinations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0" cy="475488"/>
          </a:xfrm>
          <a:prstGeom prst="rect">
            <a:avLst/>
          </a:prstGeom>
          <a:solidFill>
            <a:srgbClr val="0B3D2E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7132320" cy="475488"/>
          </a:xfrm>
          <a:prstGeom prst="rect">
            <a:avLst/>
          </a:prstGeom>
          <a:solidFill>
            <a:srgbClr val="0B3D2E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16916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03920" y="1691640"/>
            <a:ext cx="1371600" cy="475488"/>
          </a:xfrm>
          <a:prstGeom prst="rect">
            <a:avLst/>
          </a:prstGeom>
          <a:solidFill>
            <a:srgbClr val="0B3D2E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41080" y="16916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82296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1671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2167128"/>
            <a:ext cx="713232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16712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+ Attempts + Shots + Saves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167128"/>
            <a:ext cx="137160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41080" y="21671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42616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6426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2642616"/>
            <a:ext cx="7132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08760" y="264261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2642616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26426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18104"/>
            <a:ext cx="82296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11810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3118104"/>
            <a:ext cx="713232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311810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Attempts only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3118104"/>
            <a:ext cx="137160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41080" y="31181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593592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5935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3593592"/>
            <a:ext cx="7132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08760" y="3593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+ Goal Attempts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3593592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41080" y="35935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82296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06908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371600" y="4069080"/>
            <a:ext cx="713232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08760" y="4069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+ Attempts + Shots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03920" y="4069080"/>
            <a:ext cx="1371600" cy="475488"/>
          </a:xfrm>
          <a:prstGeom prst="rect">
            <a:avLst/>
          </a:prstGeom>
          <a:solidFill>
            <a:srgbClr val="F7FAF8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41080" y="40690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544568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454456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71600" y="4544568"/>
            <a:ext cx="7132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508760" y="45445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+ Shots + Saves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03920" y="454456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41080" y="45445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020056"/>
            <a:ext cx="822960" cy="475488"/>
          </a:xfrm>
          <a:prstGeom prst="rect">
            <a:avLst/>
          </a:prstGeom>
          <a:solidFill>
            <a:srgbClr val="EAF3EC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" y="502005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371600" y="5020056"/>
            <a:ext cx="7132320" cy="475488"/>
          </a:xfrm>
          <a:prstGeom prst="rect">
            <a:avLst/>
          </a:prstGeom>
          <a:solidFill>
            <a:srgbClr val="EAF3EC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508760" y="502005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+ Saves (final model)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03920" y="5020056"/>
            <a:ext cx="1371600" cy="475488"/>
          </a:xfrm>
          <a:prstGeom prst="rect">
            <a:avLst/>
          </a:prstGeom>
          <a:solidFill>
            <a:srgbClr val="EAF3EC"/>
          </a:solidFill>
          <a:ln w="6350">
            <a:solidFill>
              <a:srgbClr val="E3EC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41080" y="50200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769864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and Goal Attempts alone explain almost none of the score variance. Once Shots on Target and Goalkeeper Saves are included, R² jumps to ~0.99 — adding possession or raw attempts on top of them contributes nothing further.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correlate with the final score?</a:t>
            </a:r>
            <a:endParaRPr lang="en-US" sz="3000" dirty="0"/>
          </a:p>
        </p:txBody>
      </p:sp>
      <p:pic>
        <p:nvPicPr>
          <p:cNvPr id="4" name="Image 0" descr="/home/claude/nb_images/cell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200400" cy="41422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169164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0" y="1874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heatmap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22860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candidate feature; the two columns show its correlation with the home and away final score. Warmer (red) cells indicate a stronger positive relationship, cooler (blue) cells a weaker or negative one.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34290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 shows by far the strongest correlation with the final score (0.54-0.56). Goalkeeper Saves, Possession and Goal Attempts each correlate only weakly on their own — but the regression results show Saves still adds real predictive value once combined with Shots on Target, since it captures defensive pressure that a simple correlation misses.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Shots on target and saves are the strongest predictors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949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seven candidate feature sets, the final Multiple Linear Regression model — built on Shots on Target and Goalkeeper Saves (home &amp; away) — achieved an R² of 0.989, meaning it explains almost all of the variance in final match scores from these four in-match metrics alone. Ball Possession and raw Goal Attempts added no meaningful improvement once these two were included.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notebook: potential applications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was packaged into an interactive predictor (next slide) that takes two teams' shots and saves and returns a scoreline. The same approach generalises to odds-setting and sports-betting markets, fantasy sports scoring tools, live broadcast prediction graphics, and coaching/scouting analytics.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66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40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full-time stats only, not live/in-play data — a production betting or broadcast tool would need time-stamped features and ongoing recalibration against real odds/outcomes.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6002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2C9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8388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2194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Shots on Target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Goalkeeper Saves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0.989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0.03  ·  RMSE 0.13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FINAL PROGRAMME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in action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2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notebook cell wraps the trained model in an interactive programme: enter two teams' shots on target and goalkeeper saves, and it returns a predicted scoreline and winner. This is the actual console output captured from the notebook 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6675120" cy="3794760"/>
          </a:xfrm>
          <a:prstGeom prst="roundRect">
            <a:avLst>
              <a:gd name="adj" fmla="val 2410"/>
            </a:avLst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14600"/>
            <a:ext cx="6675120" cy="365760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97480"/>
            <a:ext cx="6675120" cy="1828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633472"/>
            <a:ext cx="128016" cy="128016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633472"/>
            <a:ext cx="128016" cy="128016"/>
          </a:xfrm>
          <a:prstGeom prst="ellipse">
            <a:avLst/>
          </a:prstGeom>
          <a:solidFill>
            <a:srgbClr val="E6B93D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633472"/>
            <a:ext cx="128016" cy="128016"/>
          </a:xfrm>
          <a:prstGeom prst="ellipse">
            <a:avLst/>
          </a:prstGeom>
          <a:solidFill>
            <a:srgbClr val="3CB8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5694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— Predict a New Match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175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Team 1 Name: </a:t>
            </a:r>
            <a:pPr indent="0" marL="0">
              <a:buNone/>
            </a:pPr>
            <a:r>
              <a:rPr lang="en-US" sz="1200" b="1" dirty="0">
                <a:solidFill>
                  <a:srgbClr val="6D9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Argentina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30555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Team 2 Name: </a:t>
            </a:r>
            <a:pPr indent="0" marL="0">
              <a:buNone/>
            </a:pPr>
            <a:r>
              <a:rPr lang="en-US" sz="1200" b="1" dirty="0">
                <a:solidFill>
                  <a:srgbClr val="6D9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Egypt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9359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Argentina Shots on Target: </a:t>
            </a:r>
            <a:pPr indent="0" marL="0">
              <a:buNone/>
            </a:pPr>
            <a:r>
              <a:rPr lang="en-US" sz="1200" b="1" dirty="0">
                <a:solidFill>
                  <a:srgbClr val="6D9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816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Egypt Shots on Target: </a:t>
            </a:r>
            <a:pPr indent="0" marL="0">
              <a:buNone/>
            </a:pPr>
            <a:r>
              <a:rPr lang="en-US" sz="1200" b="1" dirty="0">
                <a:solidFill>
                  <a:srgbClr val="6D9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1696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Argentina Goalkeeper Saves: </a:t>
            </a:r>
            <a:pPr indent="0" marL="0">
              <a:buNone/>
            </a:pPr>
            <a:r>
              <a:rPr lang="en-US" sz="1200" b="1" dirty="0">
                <a:solidFill>
                  <a:srgbClr val="6D9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577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Egypt Goalkeeper Saves: </a:t>
            </a:r>
            <a:pPr indent="0" marL="0">
              <a:buNone/>
            </a:pPr>
            <a:r>
              <a:rPr lang="en-US" sz="1200" b="1" dirty="0">
                <a:solidFill>
                  <a:srgbClr val="6D9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737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PREDICTION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22122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Argentina: 3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Egypt: 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6052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Winner: Argentina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989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 prediction is based on full-match statistics.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2514600"/>
            <a:ext cx="3886200" cy="3794760"/>
          </a:xfrm>
          <a:prstGeom prst="rect">
            <a:avLst/>
          </a:prstGeom>
          <a:solidFill>
            <a:srgbClr val="1B5E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0" y="2697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kind of model gets used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246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betting &amp; odds-setting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5112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scoreline estimates to inform lines or flag mispriced odds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3995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sports platforms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2611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scorelines feed player/team scoring tools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745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broadcast graphics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5010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"predicted final score" overlays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54955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scouting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5760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which in-match actions most move the scoreline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2026-09-25T11:28:12Z</dcterms:created>
  <dcterms:modified xsi:type="dcterms:W3CDTF">2026-09-25T11:28:12Z</dcterms:modified>
</cp:coreProperties>
</file>